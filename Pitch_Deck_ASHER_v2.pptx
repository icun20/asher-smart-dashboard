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PAMARAI × IT CONSULTANT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Semibold"/>
              </a:defRPr>
            </a:pPr>
            <a:r>
              <a:t>THE ASHER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0B981"/>
                </a:solidFill>
                <a:latin typeface="Segoe UI Semibold"/>
              </a:defRPr>
            </a:pPr>
            <a:r>
              <a:t>SMART IT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154680"/>
            <a:ext cx="109728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 Light"/>
              </a:defRPr>
            </a:pPr>
            <a:r>
              <a:rPr dirty="0"/>
              <a:t>Proposal </a:t>
            </a:r>
            <a:r>
              <a:rPr dirty="0" err="1"/>
              <a:t>Digitalisasi</a:t>
            </a:r>
            <a:r>
              <a:rPr dirty="0"/>
              <a:t> </a:t>
            </a:r>
            <a:r>
              <a:rPr dirty="0" err="1"/>
              <a:t>Mesin</a:t>
            </a:r>
            <a:r>
              <a:rPr dirty="0"/>
              <a:t> </a:t>
            </a:r>
            <a:r>
              <a:rPr lang="en-US" dirty="0"/>
              <a:t>Inseminator</a:t>
            </a:r>
            <a:br>
              <a:rPr dirty="0"/>
            </a:br>
            <a:r>
              <a:rPr dirty="0" err="1"/>
              <a:t>untuk</a:t>
            </a:r>
            <a:r>
              <a:rPr dirty="0"/>
              <a:t> ESG Compliance, Carbon Credit, dan Predictive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Disiapkan untuk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Manajemen PT. Pamarai Internasional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Disusun oleh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IT Consultant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20040" cy="27432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732520" y="1737360"/>
            <a:ext cx="320040" cy="411479"/>
          </a:xfrm>
          <a:prstGeom prst="roundRect">
            <a:avLst>
              <a:gd name="adj" fmla="val 2000"/>
            </a:avLst>
          </a:prstGeom>
          <a:solidFill>
            <a:srgbClr val="18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235440" y="2103120"/>
            <a:ext cx="320040" cy="548640"/>
          </a:xfrm>
          <a:prstGeom prst="roundRect">
            <a:avLst>
              <a:gd name="adj" fmla="val 2000"/>
            </a:avLst>
          </a:prstGeom>
          <a:solidFill>
            <a:srgbClr val="20A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738360" y="1371600"/>
            <a:ext cx="320040" cy="685800"/>
          </a:xfrm>
          <a:prstGeom prst="roundRect">
            <a:avLst>
              <a:gd name="adj" fmla="val 2000"/>
            </a:avLst>
          </a:prstGeom>
          <a:solidFill>
            <a:srgbClr val="28A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0" y="4023360"/>
            <a:ext cx="320040" cy="822959"/>
          </a:xfrm>
          <a:prstGeom prst="roundRect">
            <a:avLst>
              <a:gd name="adj" fmla="val 2000"/>
            </a:avLst>
          </a:prstGeom>
          <a:solidFill>
            <a:srgbClr val="30A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732520" y="4389120"/>
            <a:ext cx="320040" cy="96012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235440" y="3657600"/>
            <a:ext cx="320040" cy="109728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738360" y="4023360"/>
            <a:ext cx="320040" cy="123444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01 / KONTEKS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10515600" cy="12801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54864" cy="128016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234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 Light"/>
              </a:defRPr>
            </a:pPr>
            <a:r>
              <a:t>"Mesin yang tidak menghasilkan data,</a:t>
            </a:r>
            <a:br/>
            <a:r>
              <a:t> hanya menghasilkan biaya."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0515600" cy="8686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96%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0358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Volume sampah berhasil direduksi oleh The ASHER menjadi abu.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10515600" cy="8686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40690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1330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Data digital yang bisa dibuktikan ke regulator, investor, atau pasar karbon.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29200"/>
            <a:ext cx="10515600" cy="8686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5166360"/>
            <a:ext cx="1234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23036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dirty="0"/>
              <a:t>Industri </a:t>
            </a:r>
            <a:r>
              <a:rPr lang="en-US" dirty="0" err="1"/>
              <a:t>lainnya</a:t>
            </a:r>
            <a:r>
              <a:rPr dirty="0"/>
              <a:t>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menjual</a:t>
            </a:r>
            <a:r>
              <a:rPr dirty="0"/>
              <a:t> </a:t>
            </a:r>
            <a:r>
              <a:rPr dirty="0" err="1"/>
              <a:t>mesin</a:t>
            </a:r>
            <a:r>
              <a:rPr dirty="0"/>
              <a:t> bundling IoT + AI.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Pertanyaan strategis: Bagaimana agar The ASHER tidak hanya hebat secara mekanik, tapi juga cerdas secara data?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02 /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3 Tantangan Utama Klien Pamarai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337560" cy="41148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337560" cy="54864"/>
          </a:xfrm>
          <a:prstGeom prst="roundRect">
            <a:avLst>
              <a:gd name="adj" fmla="val 2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64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591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BLIND SPOT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Tidak ada data operasional real-time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Klien tidak tahu berapa ton sampah diproses per hari, berapa emisi yang dihasilkan, atau kapan mesin butuh servis. Semua berjalan tanpa catatan digital.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337560" cy="41148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1920240"/>
            <a:ext cx="3337560" cy="54864"/>
          </a:xfrm>
          <a:prstGeom prst="roundRect">
            <a:avLst>
              <a:gd name="adj" fmla="val 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286000"/>
            <a:ext cx="64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Segoe UI"/>
              </a:defRPr>
            </a:pPr>
            <a:r>
              <a:rPr dirty="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3591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Pelaporan ESG masih manual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Pencatatan manual rawan human error. Laporan tidak konsisten dan tidak dipercaya auditor global (Verra, Gold Standard, KLHK). Memakan waktu berminggu-minggu.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20240"/>
            <a:ext cx="3337560" cy="41148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0" y="1920240"/>
            <a:ext cx="3337560" cy="54864"/>
          </a:xfrm>
          <a:prstGeom prst="roundRect">
            <a:avLst>
              <a:gd name="adj" fmla="val 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286000"/>
            <a:ext cx="64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Segoe UI"/>
              </a:defRPr>
            </a:pPr>
            <a:r>
              <a:rPr dirty="0"/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3591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DOWNTIME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Maintenance bersifat reaktif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Mesin baru diperbaiki setelah rusak. Tidak ada peringatan dini. Setiap jam downtime adalah kerugian finansial bagi klien.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03 / SOLUSI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ASHER Smart IT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7315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rPr dirty="0" err="1"/>
              <a:t>Melapisi</a:t>
            </a:r>
            <a:r>
              <a:rPr dirty="0"/>
              <a:t> </a:t>
            </a:r>
            <a:r>
              <a:rPr dirty="0" err="1"/>
              <a:t>mesin</a:t>
            </a:r>
            <a:r>
              <a:rPr dirty="0"/>
              <a:t> </a:t>
            </a:r>
            <a:r>
              <a:rPr dirty="0" err="1"/>
              <a:t>fisik</a:t>
            </a:r>
            <a:r>
              <a:rPr dirty="0"/>
              <a:t> The ASHER </a:t>
            </a:r>
            <a:r>
              <a:rPr dirty="0" err="1"/>
              <a:t>dengan</a:t>
            </a:r>
            <a:r>
              <a:rPr dirty="0"/>
              <a:t> 3 </a:t>
            </a:r>
            <a:r>
              <a:rPr dirty="0" err="1"/>
              <a:t>lapisan</a:t>
            </a:r>
            <a:r>
              <a:rPr dirty="0"/>
              <a:t> digital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mengubah</a:t>
            </a:r>
            <a:r>
              <a:rPr dirty="0"/>
              <a:t> </a:t>
            </a:r>
            <a:r>
              <a:rPr lang="en-US" dirty="0" err="1"/>
              <a:t>skema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1371600" y="2377440"/>
            <a:ext cx="9418320" cy="1097280"/>
          </a:xfrm>
          <a:prstGeom prst="roundRect">
            <a:avLst>
              <a:gd name="adj" fmla="val 2000"/>
            </a:avLst>
          </a:prstGeom>
          <a:solidFill>
            <a:srgbClr val="1E407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LAYER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14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Dashboard &amp; 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80360"/>
            <a:ext cx="6858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dirty="0" err="1"/>
              <a:t>Eksekutif</a:t>
            </a:r>
            <a:r>
              <a:rPr dirty="0"/>
              <a:t>, HSE, Operator </a:t>
            </a:r>
            <a:r>
              <a:rPr dirty="0" err="1"/>
              <a:t>melihat</a:t>
            </a:r>
            <a:r>
              <a:rPr dirty="0"/>
              <a:t> data via web browser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apps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94360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749039"/>
            <a:ext cx="9418320" cy="1097280"/>
          </a:xfrm>
          <a:prstGeom prst="roundRect">
            <a:avLst>
              <a:gd name="adj" fmla="val 2000"/>
            </a:avLst>
          </a:prstGeom>
          <a:solidFill>
            <a:srgbClr val="4C1D95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388619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LAYER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8861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AI &amp; Analytics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2519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XGBoost, Isolation Forest, YOLOv8 memproses data mentah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8005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120640"/>
            <a:ext cx="9418320" cy="1097280"/>
          </a:xfrm>
          <a:prstGeom prst="roundRect">
            <a:avLst>
              <a:gd name="adj" fmla="val 2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0" y="5257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LAYER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IoT Sensor &amp; Data 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623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Sensor fisik terpasang di mesin: suhu, gas, getaran, kamera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Segoe UI Light"/>
              </a:defRPr>
            </a:pPr>
            <a:r>
              <a:rPr dirty="0"/>
              <a:t>Make the invisible, visible.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04 / FITUR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Carbon Accounting &amp; Credit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31689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Target </a:t>
            </a:r>
            <a:r>
              <a:rPr dirty="0" err="1"/>
              <a:t>Audiens</a:t>
            </a:r>
            <a:r>
              <a:rPr dirty="0"/>
              <a:t>: </a:t>
            </a:r>
            <a:r>
              <a:rPr dirty="0" err="1"/>
              <a:t>Direksi</a:t>
            </a:r>
            <a:r>
              <a:rPr dirty="0"/>
              <a:t> / C-Level / Investor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08138"/>
            <a:ext cx="10515600" cy="1566922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51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6577"/>
            <a:ext cx="102412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dirty="0"/>
              <a:t>Carbon Saved  =  Baseline </a:t>
            </a:r>
            <a:r>
              <a:rPr dirty="0" err="1"/>
              <a:t>Emisi</a:t>
            </a:r>
            <a:r>
              <a:rPr dirty="0"/>
              <a:t> TPA (</a:t>
            </a:r>
            <a:r>
              <a:rPr dirty="0" err="1"/>
              <a:t>Tonase</a:t>
            </a:r>
            <a:r>
              <a:rPr dirty="0"/>
              <a:t> x 1.2)  -  </a:t>
            </a:r>
            <a:r>
              <a:rPr dirty="0" err="1"/>
              <a:t>Emisi</a:t>
            </a:r>
            <a:r>
              <a:rPr dirty="0"/>
              <a:t> ASHER (kWh x EF + </a:t>
            </a:r>
            <a:r>
              <a:rPr dirty="0" err="1"/>
              <a:t>Tonase</a:t>
            </a:r>
            <a:r>
              <a:rPr dirty="0"/>
              <a:t> x 0.05)</a:t>
            </a:r>
            <a:br>
              <a:rPr dirty="0"/>
            </a:br>
            <a:br>
              <a:rPr dirty="0"/>
            </a:br>
            <a:r>
              <a:rPr dirty="0"/>
              <a:t>Hasil </a:t>
            </a:r>
            <a:r>
              <a:rPr dirty="0" err="1"/>
              <a:t>konversi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nilai</a:t>
            </a:r>
            <a:r>
              <a:rPr dirty="0"/>
              <a:t> </a:t>
            </a:r>
            <a:r>
              <a:rPr dirty="0" err="1"/>
              <a:t>finansial</a:t>
            </a:r>
            <a:r>
              <a:rPr dirty="0"/>
              <a:t>:  ~$48.50 / Ton CO2e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STANDAR ACUAN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3337560" cy="14630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297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GHG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091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Standar global akuntansi emisi gas rumah kaca.</a:t>
            </a:r>
            <a:br/>
            <a:r>
              <a:t>Mencakup Scope 1 (emisi langsung) dan Scope 2 (dari listrik).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114800"/>
            <a:ext cx="3337560" cy="14630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4297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ISO 14064-1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7091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Standar internasional kuantifikasi dan pelaporan</a:t>
            </a:r>
            <a:br/>
            <a:r>
              <a:t>emisi GRK di tingkat organisasi/industri.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114800"/>
            <a:ext cx="3337560" cy="14630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4297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GRI Standards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7091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Framework pelaporan keberlanjutan.</a:t>
            </a:r>
            <a:br/>
            <a:r>
              <a:t>Template laporan PDF mengikuti indikator GRI.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852160"/>
            <a:ext cx="10515600" cy="640080"/>
          </a:xfrm>
          <a:prstGeom prst="roundRect">
            <a:avLst>
              <a:gd name="adj" fmla="val 2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94360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OUTPUT:  Dashboard </a:t>
            </a:r>
            <a:r>
              <a:rPr dirty="0" err="1"/>
              <a:t>Eksekutif</a:t>
            </a:r>
            <a:r>
              <a:rPr dirty="0"/>
              <a:t> real-time  +  </a:t>
            </a:r>
            <a:r>
              <a:rPr dirty="0" err="1"/>
              <a:t>Laporan</a:t>
            </a:r>
            <a:r>
              <a:rPr dirty="0"/>
              <a:t> PDF </a:t>
            </a:r>
            <a:r>
              <a:rPr dirty="0" err="1"/>
              <a:t>Eksum</a:t>
            </a:r>
            <a:r>
              <a:rPr dirty="0"/>
              <a:t> </a:t>
            </a:r>
            <a:r>
              <a:rPr dirty="0" err="1"/>
              <a:t>otomatis</a:t>
            </a:r>
            <a:r>
              <a:rPr dirty="0"/>
              <a:t> (</a:t>
            </a:r>
            <a:r>
              <a:rPr dirty="0" err="1"/>
              <a:t>siap</a:t>
            </a:r>
            <a:r>
              <a:rPr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dirty="0"/>
              <a:t>audit)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05 / FITUR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HSE Real-Time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Target Audiens: Manajer K3 / Lingkungan / Auditor KLHK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6858000" cy="457200"/>
          </a:xfrm>
          <a:prstGeom prst="roundRect">
            <a:avLst>
              <a:gd name="adj" fmla="val 2000"/>
            </a:avLst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Parameter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Jenis 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Ambang Batas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60320"/>
            <a:ext cx="6858000" cy="4572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PM2.5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Laser Scattering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50 µg/m³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SO₂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Electrochemical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0.1 ppm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474720"/>
            <a:ext cx="6858000" cy="4572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520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NO₂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Electrochemical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0.2 ppm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Electrochemical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977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10 ppm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389120"/>
            <a:ext cx="6858000" cy="4572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Suhu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Thermocouple 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650-900°C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ALERT SYSTEM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1828800"/>
            <a:ext cx="3200400" cy="868680"/>
          </a:xfrm>
          <a:prstGeom prst="roundRect">
            <a:avLst>
              <a:gd name="adj" fmla="val 2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1938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✓  AMAN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Di bawah 60% ambang batas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926080"/>
            <a:ext cx="3200400" cy="868680"/>
          </a:xfrm>
          <a:prstGeom prst="roundRect">
            <a:avLst>
              <a:gd name="adj" fmla="val 2000"/>
            </a:avLst>
          </a:prstGeom>
          <a:solidFill>
            <a:srgbClr val="78350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0" y="3035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⚠  WASPADA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60-85% ambang batas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023359"/>
            <a:ext cx="3200400" cy="868680"/>
          </a:xfrm>
          <a:prstGeom prst="roundRect">
            <a:avLst>
              <a:gd name="adj" fmla="val 2000"/>
            </a:avLst>
          </a:prstGeom>
          <a:solidFill>
            <a:srgbClr val="7F1D1D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0" y="413308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✖  BAHAYA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4805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Di atas 85% + notifikasi HP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303520"/>
            <a:ext cx="10515600" cy="10972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97280" y="54406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rPr dirty="0" err="1"/>
              <a:t>Poin</a:t>
            </a:r>
            <a:r>
              <a:rPr dirty="0"/>
              <a:t> </a:t>
            </a:r>
            <a:r>
              <a:rPr dirty="0" err="1"/>
              <a:t>kunci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presentasi</a:t>
            </a:r>
            <a:r>
              <a:rPr dirty="0"/>
              <a:t>:</a:t>
            </a:r>
            <a:br>
              <a:rPr dirty="0"/>
            </a:br>
            <a:r>
              <a:rPr dirty="0" err="1"/>
              <a:t>Semua</a:t>
            </a:r>
            <a:r>
              <a:rPr dirty="0"/>
              <a:t> status </a:t>
            </a:r>
            <a:r>
              <a:rPr dirty="0" err="1"/>
              <a:t>dilengkapi</a:t>
            </a:r>
            <a:r>
              <a:rPr dirty="0"/>
              <a:t> ikon (✓ ⚠ ✖) </a:t>
            </a:r>
            <a:r>
              <a:rPr dirty="0" err="1"/>
              <a:t>selain</a:t>
            </a:r>
            <a:r>
              <a:rPr dirty="0"/>
              <a:t> </a:t>
            </a:r>
            <a:r>
              <a:rPr dirty="0" err="1"/>
              <a:t>warna</a:t>
            </a:r>
            <a:r>
              <a:rPr dirty="0"/>
              <a:t>, </a:t>
            </a:r>
            <a:r>
              <a:rPr dirty="0" err="1"/>
              <a:t>sehingga</a:t>
            </a:r>
            <a:r>
              <a:rPr dirty="0"/>
              <a:t> </a:t>
            </a:r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terbaca</a:t>
            </a:r>
            <a:r>
              <a:rPr dirty="0"/>
              <a:t> oleh </a:t>
            </a:r>
            <a:r>
              <a:rPr dirty="0" err="1"/>
              <a:t>pengguna</a:t>
            </a:r>
            <a:r>
              <a:rPr dirty="0"/>
              <a:t> </a:t>
            </a:r>
            <a:r>
              <a:rPr dirty="0" err="1"/>
              <a:t>buta</a:t>
            </a:r>
            <a:r>
              <a:rPr dirty="0"/>
              <a:t> </a:t>
            </a:r>
            <a:r>
              <a:rPr dirty="0" err="1"/>
              <a:t>warna</a:t>
            </a:r>
            <a:r>
              <a:rPr dirty="0"/>
              <a:t>.</a:t>
            </a:r>
            <a:br>
              <a:rPr dirty="0"/>
            </a:br>
            <a:r>
              <a:rPr dirty="0"/>
              <a:t>Ini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sekadar</a:t>
            </a:r>
            <a:r>
              <a:rPr dirty="0"/>
              <a:t> </a:t>
            </a:r>
            <a:r>
              <a:rPr dirty="0" err="1"/>
              <a:t>catatan</a:t>
            </a:r>
            <a:r>
              <a:rPr dirty="0"/>
              <a:t> —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persyaratan</a:t>
            </a:r>
            <a:r>
              <a:rPr dirty="0"/>
              <a:t> </a:t>
            </a:r>
            <a:r>
              <a:rPr dirty="0" err="1"/>
              <a:t>aksesibilitas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dashboard safety-critical.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06 / FITUR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AI Predictive 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Target Audiens: Manajer Operasional / Teknisi Lapangan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5029200" cy="41148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5029200" cy="54864"/>
          </a:xfrm>
          <a:prstGeom prst="roundRect">
            <a:avLst>
              <a:gd name="adj" fmla="val 2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SEBELUM (Reactive)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✖  Servis dijadwalkan tiap 3 bulan (terlalu cepat = boros biaya, terlalu lambat = rusak mendadak)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✖  Tidak ada indikasi kerusakan sampai mesin benar-benar mati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51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✖  Setiap jam downtime = kerugian jutaan rupiah bagi klien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✖  Teknisi tidak tahu komponen mana yang harus diprioritaskan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94560"/>
            <a:ext cx="5029200" cy="41148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029200" cy="54864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SESUDAH (Predictive AI)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880360"/>
            <a:ext cx="4480560" cy="822960"/>
          </a:xfrm>
          <a:prstGeom prst="roundRect">
            <a:avLst>
              <a:gd name="adj" fmla="val 2000"/>
            </a:avLst>
          </a:prstGeom>
          <a:solidFill>
            <a:srgbClr val="1621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Ganti Kipas Blower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971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12 Hari Lagi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Anomali getaran bearing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Akurasi 94%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931920"/>
            <a:ext cx="4480560" cy="822960"/>
          </a:xfrm>
          <a:prstGeom prst="roundRect">
            <a:avLst>
              <a:gd name="adj" fmla="val 2000"/>
            </a:avLst>
          </a:prstGeom>
          <a:solidFill>
            <a:srgbClr val="1621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Bersihkan Ruang Plasma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023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24 Hari Lagi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Tumpukan abu sensor optik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Akurasi 88%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983479"/>
            <a:ext cx="4480560" cy="822960"/>
          </a:xfrm>
          <a:prstGeom prst="roundRect">
            <a:avLst>
              <a:gd name="adj" fmla="val 2000"/>
            </a:avLst>
          </a:prstGeom>
          <a:solidFill>
            <a:srgbClr val="1621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50749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Ganti Filter Emisi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07491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34 Hari Lagi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3949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Tren partikulat PM2.5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3949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Akurasi 96%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07 / TEKNOLOGI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Peta Teknologi AI &amp;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120640" cy="2194560"/>
          </a:xfrm>
          <a:prstGeom prst="roundRect">
            <a:avLst>
              <a:gd name="adj" fmla="val 2000"/>
            </a:avLst>
          </a:prstGeom>
          <a:solidFill>
            <a:srgbClr val="4C1D95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120640" cy="45720"/>
          </a:xfrm>
          <a:prstGeom prst="roundRect">
            <a:avLst>
              <a:gd name="adj" fmla="val 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02996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Unsupervised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Algoritma: Isolation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Input: Data sensor real-time (suhu, tekanan, getaran, emisi gas)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08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Mendeteksi pola abnormal tanpa perlu contoh kerusakan. Belajar dari pola normal, lalu menandai yang menyimpang.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120640" cy="2194560"/>
          </a:xfrm>
          <a:prstGeom prst="roundRect">
            <a:avLst>
              <a:gd name="adj" fmla="val 2000"/>
            </a:avLst>
          </a:prstGeom>
          <a:solidFill>
            <a:srgbClr val="1E407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120640" cy="4572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Predictive Maintenance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02996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Supervised ML (Gradient Boosting)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Algoritma: XGBoost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Input: Riwayat jam operasi, suhu rata-rata, jumlah siklus, data getaran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08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Memprediksi sisa umur (RUL) setiap komponen. Bisa menjelaskan faktor penyebab (Explainable AI).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97680"/>
            <a:ext cx="5120640" cy="2194560"/>
          </a:xfrm>
          <a:prstGeom prst="roundRect">
            <a:avLst>
              <a:gd name="adj" fmla="val 2000"/>
            </a:avLst>
          </a:prstGeom>
          <a:solidFill>
            <a:srgbClr val="0D5C53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" y="4297680"/>
            <a:ext cx="5120640" cy="45720"/>
          </a:xfrm>
          <a:prstGeom prst="roundRect">
            <a:avLst>
              <a:gd name="adj" fmla="val 2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Waste 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4988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B8A6"/>
                </a:solidFill>
                <a:latin typeface="Segoe UI"/>
              </a:defRPr>
            </a:pPr>
            <a:r>
              <a:t>Deep Learning (Computer Vision)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B8A6"/>
                </a:solidFill>
                <a:latin typeface="Segoe UI"/>
              </a:defRPr>
            </a:pPr>
            <a:r>
              <a:t>Algoritma: YOLOv8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Input: Feed video kamera real-time di atas hopper/konveyor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577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Klasifikasi dinamis: Plastik, Organik, Logam, B3, dll. Berjalan di Edge (tanpa internet).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297680"/>
            <a:ext cx="5120640" cy="2194560"/>
          </a:xfrm>
          <a:prstGeom prst="roundRect">
            <a:avLst>
              <a:gd name="adj" fmla="val 2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17920" y="4297680"/>
            <a:ext cx="5120640" cy="4572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Carbon Calculation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4988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Formula Deterministik (Bukan ML)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Algoritma: Rule-Based Math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Input: Data tonase dari timbangan + konsumsi listrik (kWh)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577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Sengaja tidak pakai ML. Angka karbon harus 100% bisa diaudit (GHG Protocol &amp; IPCC 2006).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08 / ARSITEKTUR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Arsitektur Sistem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71600" y="5074920"/>
            <a:ext cx="9418320" cy="914400"/>
          </a:xfrm>
          <a:prstGeom prst="roundRect">
            <a:avLst>
              <a:gd name="adj" fmla="val 2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LAYER 1: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4864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Sensor Suhu  |  Gas Analyzer  |  Sensor Getaran  |  Timbangan  |  AI Camera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794760"/>
            <a:ext cx="9418320" cy="914400"/>
          </a:xfrm>
          <a:prstGeom prst="roundRect">
            <a:avLst>
              <a:gd name="adj" fmla="val 2000"/>
            </a:avLst>
          </a:prstGeom>
          <a:solidFill>
            <a:srgbClr val="0D5C53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Segoe UI"/>
              </a:defRPr>
            </a:pPr>
            <a:r>
              <a:t>LAYER 2: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2062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IoT Gateway (Mini PC)  |  YOLOv8 Vision  |  MQTT Broker Lokal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606040"/>
            <a:ext cx="9418320" cy="914400"/>
          </a:xfrm>
          <a:prstGeom prst="roundRect">
            <a:avLst>
              <a:gd name="adj" fmla="val 2000"/>
            </a:avLst>
          </a:prstGeom>
          <a:solidFill>
            <a:srgbClr val="1E407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LAYER 3: CLOUD +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17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Python FastAPI  |  PostgreSQL  |  XGBoost  |  Isolation Forest  |  GHG Calculator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1508760"/>
            <a:ext cx="9418320" cy="914400"/>
          </a:xfrm>
          <a:prstGeom prst="roundRect">
            <a:avLst>
              <a:gd name="adj" fmla="val 2000"/>
            </a:avLst>
          </a:prstGeom>
          <a:solidFill>
            <a:srgbClr val="78350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LAYER 4: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19202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Executive (ESG &amp; Carbon)  |  HSE (Safety)  |  Operator (Maintenance &amp; Vision)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754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474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2860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6195060"/>
            <a:ext cx="9418320" cy="4800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5920" y="619506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rPr dirty="0" err="1"/>
              <a:t>Kunci</a:t>
            </a:r>
            <a:r>
              <a:rPr dirty="0"/>
              <a:t>: 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mengubah</a:t>
            </a:r>
            <a:r>
              <a:rPr dirty="0"/>
              <a:t> </a:t>
            </a:r>
            <a:r>
              <a:rPr dirty="0" err="1"/>
              <a:t>mekanisme</a:t>
            </a:r>
            <a:r>
              <a:rPr dirty="0"/>
              <a:t> internal </a:t>
            </a:r>
            <a:r>
              <a:rPr dirty="0" err="1"/>
              <a:t>mesin</a:t>
            </a:r>
            <a:r>
              <a:rPr dirty="0"/>
              <a:t>. Layer 2 (Edge) </a:t>
            </a:r>
            <a:r>
              <a:rPr dirty="0" err="1"/>
              <a:t>memastikan</a:t>
            </a:r>
            <a:r>
              <a:rPr dirty="0"/>
              <a:t> </a:t>
            </a:r>
            <a:r>
              <a:rPr dirty="0" err="1"/>
              <a:t>mesin</a:t>
            </a:r>
            <a:r>
              <a:rPr dirty="0"/>
              <a:t> </a:t>
            </a:r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beroperasi</a:t>
            </a:r>
            <a:r>
              <a:rPr dirty="0"/>
              <a:t> </a:t>
            </a:r>
            <a:r>
              <a:rPr dirty="0" err="1"/>
              <a:t>meskipun</a:t>
            </a:r>
            <a:r>
              <a:rPr dirty="0"/>
              <a:t> internet </a:t>
            </a:r>
            <a:r>
              <a:rPr dirty="0" err="1"/>
              <a:t>putus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09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Alur Perjalanan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Dari sampah masuk ke hopper, hingga menjadi angka Carbon Credit (USD) dan notifikasi keselamatan di layar.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057400" cy="29260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2057400" cy="45720"/>
          </a:xfrm>
          <a:prstGeom prst="roundRect">
            <a:avLst>
              <a:gd name="adj" fmla="val 2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6091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4748B"/>
                </a:solidFill>
                <a:latin typeface="Segoe UI"/>
              </a:defRPr>
            </a:pPr>
            <a:r>
              <a:rPr dirty="0"/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SAMPAH</a:t>
            </a:r>
            <a:br/>
            <a:r>
              <a:t>MASUK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4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Timbangan mencatat</a:t>
            </a:r>
            <a:br/>
            <a:r>
              <a:t>tonase. Kamera</a:t>
            </a:r>
            <a:br/>
            <a:r>
              <a:t>merekam material.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286000"/>
            <a:ext cx="2057400" cy="2926080"/>
          </a:xfrm>
          <a:prstGeom prst="roundRect">
            <a:avLst>
              <a:gd name="adj" fmla="val 2000"/>
            </a:avLst>
          </a:prstGeom>
          <a:solidFill>
            <a:srgbClr val="4C1D95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71800" y="2286000"/>
            <a:ext cx="2057400" cy="45720"/>
          </a:xfrm>
          <a:prstGeom prst="roundRect">
            <a:avLst>
              <a:gd name="adj" fmla="val 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59" y="2468880"/>
            <a:ext cx="5289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Segoe UI"/>
              </a:defRPr>
            </a:pPr>
            <a:r>
              <a:rPr dirty="0"/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9260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AI VISION</a:t>
            </a:r>
            <a:br/>
            <a:r>
              <a:t>(YOLO)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74904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Klasifikasi jenis:</a:t>
            </a:r>
            <a:br/>
            <a:r>
              <a:t>Plastik, Organik,</a:t>
            </a:r>
            <a:br/>
            <a:r>
              <a:t>Logam, B3, dll.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286000"/>
            <a:ext cx="2057400" cy="2926080"/>
          </a:xfrm>
          <a:prstGeom prst="roundRect">
            <a:avLst>
              <a:gd name="adj" fmla="val 2000"/>
            </a:avLst>
          </a:prstGeom>
          <a:solidFill>
            <a:srgbClr val="0D5C53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03520" y="2286000"/>
            <a:ext cx="2057400" cy="45720"/>
          </a:xfrm>
          <a:prstGeom prst="roundRect">
            <a:avLst>
              <a:gd name="adj" fmla="val 2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80" y="2468880"/>
            <a:ext cx="655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9260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PROSES</a:t>
            </a:r>
            <a:br/>
            <a:r>
              <a:t>INSINERASI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374904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Sensor mencatat</a:t>
            </a:r>
            <a:br/>
            <a:r>
              <a:t>suhu, emisi gas,</a:t>
            </a:r>
            <a:br/>
            <a:r>
              <a:t>getaran, listrik.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286000"/>
            <a:ext cx="2057400" cy="2926080"/>
          </a:xfrm>
          <a:prstGeom prst="roundRect">
            <a:avLst>
              <a:gd name="adj" fmla="val 2000"/>
            </a:avLst>
          </a:prstGeom>
          <a:solidFill>
            <a:srgbClr val="1E407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35240" y="2286000"/>
            <a:ext cx="2057400" cy="4572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399" y="2468880"/>
            <a:ext cx="5850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Segoe UI"/>
              </a:defRPr>
            </a:pPr>
            <a:r>
              <a:rPr dirty="0"/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9260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DATABASE</a:t>
            </a:r>
            <a:br/>
            <a:r>
              <a:t>&amp; AI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74904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Isolation Forest</a:t>
            </a:r>
            <a:br/>
            <a:r>
              <a:t>XGBoost mengolah</a:t>
            </a:r>
            <a:br/>
            <a:r>
              <a:t>data mentah.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59" y="2286000"/>
            <a:ext cx="2057400" cy="2926080"/>
          </a:xfrm>
          <a:prstGeom prst="roundRect">
            <a:avLst>
              <a:gd name="adj" fmla="val 2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966959" y="2286000"/>
            <a:ext cx="2057400" cy="4572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04118" y="2468880"/>
            <a:ext cx="5943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9" y="29260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OUTPUT</a:t>
            </a:r>
            <a:br/>
            <a:r>
              <a:t>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19" y="374904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Carbon Credit,</a:t>
            </a:r>
            <a:br/>
            <a:r>
              <a:t>Alert HSE, Jadwal</a:t>
            </a:r>
            <a:br/>
            <a:r>
              <a:t>Servis AI.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486400"/>
            <a:ext cx="10515600" cy="9144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" y="5577840"/>
            <a:ext cx="9601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Langkah 02 (AI Vision) </a:t>
            </a:r>
            <a:r>
              <a:rPr dirty="0" err="1"/>
              <a:t>diproses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lokal</a:t>
            </a:r>
            <a:r>
              <a:rPr dirty="0"/>
              <a:t> di Edge (</a:t>
            </a:r>
            <a:r>
              <a:rPr dirty="0" err="1"/>
              <a:t>tanpa</a:t>
            </a:r>
            <a:r>
              <a:rPr dirty="0"/>
              <a:t> internet) agar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membebani</a:t>
            </a:r>
            <a:r>
              <a:rPr dirty="0"/>
              <a:t> bandwidth.</a:t>
            </a:r>
            <a:br>
              <a:rPr dirty="0"/>
            </a:br>
            <a:r>
              <a:rPr dirty="0"/>
              <a:t>Hanya data </a:t>
            </a:r>
            <a:r>
              <a:rPr dirty="0" err="1"/>
              <a:t>teks</a:t>
            </a:r>
            <a:r>
              <a:rPr dirty="0"/>
              <a:t>/</a:t>
            </a:r>
            <a:r>
              <a:rPr dirty="0" err="1"/>
              <a:t>angka</a:t>
            </a:r>
            <a:r>
              <a:rPr dirty="0"/>
              <a:t> yang </a:t>
            </a:r>
            <a:r>
              <a:rPr dirty="0" err="1"/>
              <a:t>dikirim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Cloud. Video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pernah</a:t>
            </a:r>
            <a:r>
              <a:rPr dirty="0"/>
              <a:t> </a:t>
            </a:r>
            <a:r>
              <a:rPr lang="en-US" dirty="0" err="1"/>
              <a:t>dikirim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luar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 (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cloud)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 / JUSTIFIKASI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Mengapa Arsitektur Ini?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120640" cy="21031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4864" cy="2103120"/>
          </a:xfrm>
          <a:prstGeom prst="roundRect">
            <a:avLst>
              <a:gd name="adj" fmla="val 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Kenapa YOLOv8?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4572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0">
                <a:solidFill>
                  <a:srgbClr val="CBD5E1"/>
                </a:solidFill>
                <a:latin typeface="Segoe UI"/>
              </a:defRPr>
            </a:pPr>
            <a:r>
              <a:rPr dirty="0" err="1"/>
              <a:t>Memproses</a:t>
            </a:r>
            <a:r>
              <a:rPr dirty="0"/>
              <a:t> 60+ frame/</a:t>
            </a:r>
            <a:r>
              <a:rPr dirty="0" err="1"/>
              <a:t>detik</a:t>
            </a:r>
            <a:r>
              <a:rPr dirty="0"/>
              <a:t> (real-time). </a:t>
            </a:r>
            <a:r>
              <a:rPr dirty="0" err="1"/>
              <a:t>Ringan</a:t>
            </a:r>
            <a:r>
              <a:rPr dirty="0"/>
              <a:t>,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berjalan</a:t>
            </a:r>
            <a:r>
              <a:rPr dirty="0"/>
              <a:t> di Edge PC </a:t>
            </a:r>
            <a:r>
              <a:rPr dirty="0" err="1"/>
              <a:t>tanpa</a:t>
            </a:r>
            <a:r>
              <a:rPr dirty="0"/>
              <a:t> GPU mahal. </a:t>
            </a:r>
            <a:r>
              <a:rPr dirty="0" err="1"/>
              <a:t>Klasifikasi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terbatas</a:t>
            </a:r>
            <a:r>
              <a:rPr dirty="0"/>
              <a:t> </a:t>
            </a:r>
            <a:r>
              <a:rPr lang="en-US" dirty="0"/>
              <a:t>dan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dilatih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mengenali</a:t>
            </a:r>
            <a:r>
              <a:rPr dirty="0"/>
              <a:t> </a:t>
            </a:r>
            <a:r>
              <a:rPr dirty="0" err="1"/>
              <a:t>jenis</a:t>
            </a:r>
            <a:r>
              <a:rPr dirty="0"/>
              <a:t> material </a:t>
            </a:r>
            <a:r>
              <a:rPr dirty="0" err="1"/>
              <a:t>apapun</a:t>
            </a:r>
            <a:r>
              <a:rPr dirty="0"/>
              <a:t> </a:t>
            </a:r>
            <a:r>
              <a:rPr dirty="0" err="1"/>
              <a:t>sesuai</a:t>
            </a:r>
            <a:r>
              <a:rPr dirty="0"/>
              <a:t> </a:t>
            </a:r>
            <a:r>
              <a:rPr dirty="0" err="1"/>
              <a:t>kebutuhan</a:t>
            </a:r>
            <a:r>
              <a:rPr dirty="0"/>
              <a:t> </a:t>
            </a:r>
            <a:r>
              <a:rPr dirty="0" err="1"/>
              <a:t>klien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20640" cy="21031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4864" cy="210312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Kenapa XGBoost?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4572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State-of-the-art </a:t>
            </a:r>
            <a:r>
              <a:rPr dirty="0" err="1"/>
              <a:t>untuk</a:t>
            </a:r>
            <a:r>
              <a:rPr dirty="0"/>
              <a:t> data tabular (sensor). </a:t>
            </a:r>
            <a:r>
              <a:rPr dirty="0" err="1"/>
              <a:t>Akurasi</a:t>
            </a:r>
            <a:r>
              <a:rPr dirty="0"/>
              <a:t> </a:t>
            </a:r>
            <a:r>
              <a:rPr dirty="0" err="1"/>
              <a:t>tinggi</a:t>
            </a:r>
            <a:r>
              <a:rPr dirty="0"/>
              <a:t> dan Explainable AI </a:t>
            </a:r>
            <a:r>
              <a:rPr lang="en-US" dirty="0"/>
              <a:t>dan</a:t>
            </a:r>
            <a:r>
              <a:rPr dirty="0"/>
              <a:t> </a:t>
            </a:r>
            <a:r>
              <a:rPr dirty="0" err="1"/>
              <a:t>teknisi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tahu</a:t>
            </a:r>
            <a:r>
              <a:rPr dirty="0"/>
              <a:t> MENGAPA AI </a:t>
            </a:r>
            <a:r>
              <a:rPr dirty="0" err="1"/>
              <a:t>menyuruh</a:t>
            </a:r>
            <a:r>
              <a:rPr dirty="0"/>
              <a:t> </a:t>
            </a:r>
            <a:r>
              <a:rPr dirty="0" err="1"/>
              <a:t>ganti</a:t>
            </a:r>
            <a:r>
              <a:rPr dirty="0"/>
              <a:t> </a:t>
            </a:r>
            <a:r>
              <a:rPr dirty="0" err="1"/>
              <a:t>komponen</a:t>
            </a:r>
            <a:r>
              <a:rPr dirty="0"/>
              <a:t> (</a:t>
            </a:r>
            <a:r>
              <a:rPr dirty="0" err="1"/>
              <a:t>misal</a:t>
            </a:r>
            <a:r>
              <a:rPr dirty="0"/>
              <a:t>: </a:t>
            </a:r>
            <a:r>
              <a:rPr dirty="0" err="1"/>
              <a:t>getaran</a:t>
            </a:r>
            <a:r>
              <a:rPr dirty="0"/>
              <a:t> bearing </a:t>
            </a:r>
            <a:r>
              <a:rPr dirty="0" err="1"/>
              <a:t>anomali</a:t>
            </a:r>
            <a:r>
              <a:rPr dirty="0"/>
              <a:t>),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sekadar</a:t>
            </a:r>
            <a:r>
              <a:rPr dirty="0"/>
              <a:t> </a:t>
            </a:r>
            <a:r>
              <a:rPr dirty="0" err="1"/>
              <a:t>angka</a:t>
            </a:r>
            <a:r>
              <a:rPr dirty="0"/>
              <a:t>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alasan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06240"/>
            <a:ext cx="5120640" cy="21031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" y="4206240"/>
            <a:ext cx="54864" cy="2103120"/>
          </a:xfrm>
          <a:prstGeom prst="roundRect">
            <a:avLst>
              <a:gd name="adj" fmla="val 2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Segoe UI"/>
              </a:defRPr>
            </a:pPr>
            <a:r>
              <a:t>Kenapa Edge Computing?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00600"/>
            <a:ext cx="4572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Internet </a:t>
            </a:r>
            <a:r>
              <a:rPr dirty="0" err="1"/>
              <a:t>pabrik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putus</a:t>
            </a:r>
            <a:r>
              <a:rPr dirty="0"/>
              <a:t> </a:t>
            </a:r>
            <a:r>
              <a:rPr dirty="0" err="1"/>
              <a:t>kapan</a:t>
            </a:r>
            <a:r>
              <a:rPr dirty="0"/>
              <a:t> </a:t>
            </a:r>
            <a:r>
              <a:rPr dirty="0" err="1"/>
              <a:t>saja</a:t>
            </a:r>
            <a:r>
              <a:rPr dirty="0"/>
              <a:t>. Dengan Edge, </a:t>
            </a:r>
            <a:r>
              <a:rPr dirty="0" err="1"/>
              <a:t>sistem</a:t>
            </a:r>
            <a:r>
              <a:rPr dirty="0"/>
              <a:t> alert </a:t>
            </a:r>
            <a:r>
              <a:rPr dirty="0" err="1"/>
              <a:t>keselamatan</a:t>
            </a:r>
            <a:r>
              <a:rPr dirty="0"/>
              <a:t> (HSE) </a:t>
            </a:r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berjalan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lokal</a:t>
            </a:r>
            <a:r>
              <a:rPr dirty="0"/>
              <a:t>. Juga </a:t>
            </a:r>
            <a:r>
              <a:rPr dirty="0" err="1"/>
              <a:t>menghemat</a:t>
            </a:r>
            <a:r>
              <a:rPr dirty="0"/>
              <a:t> bandwidth </a:t>
            </a:r>
            <a:r>
              <a:rPr dirty="0" err="1"/>
              <a:t>karena</a:t>
            </a:r>
            <a:r>
              <a:rPr dirty="0"/>
              <a:t> video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perlu</a:t>
            </a:r>
            <a:r>
              <a:rPr dirty="0"/>
              <a:t> </a:t>
            </a:r>
            <a:r>
              <a:rPr dirty="0" err="1"/>
              <a:t>dikirim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cloud.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206240"/>
            <a:ext cx="5120640" cy="21031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4206240"/>
            <a:ext cx="54864" cy="210312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Kenapa Carbon BUKAN AI?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00600"/>
            <a:ext cx="4572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0">
                <a:solidFill>
                  <a:srgbClr val="CBD5E1"/>
                </a:solidFill>
                <a:latin typeface="Segoe UI"/>
              </a:defRPr>
            </a:pPr>
            <a:r>
              <a:rPr dirty="0" err="1"/>
              <a:t>Perhitungan</a:t>
            </a:r>
            <a:r>
              <a:rPr dirty="0"/>
              <a:t> </a:t>
            </a:r>
            <a:r>
              <a:rPr dirty="0" err="1"/>
              <a:t>karbon</a:t>
            </a:r>
            <a:r>
              <a:rPr dirty="0"/>
              <a:t>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deterministik</a:t>
            </a:r>
            <a:r>
              <a:rPr dirty="0"/>
              <a:t> dan </a:t>
            </a:r>
            <a:r>
              <a:rPr dirty="0" err="1"/>
              <a:t>transparan</a:t>
            </a:r>
            <a:r>
              <a:rPr dirty="0"/>
              <a:t>. AI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berhalusinasi</a:t>
            </a:r>
            <a:r>
              <a:rPr dirty="0"/>
              <a:t>. Auditor (KLHK, Verra) </a:t>
            </a:r>
            <a:r>
              <a:rPr dirty="0" err="1"/>
              <a:t>menolak</a:t>
            </a:r>
            <a:r>
              <a:rPr dirty="0"/>
              <a:t> </a:t>
            </a:r>
            <a:r>
              <a:rPr dirty="0" err="1"/>
              <a:t>angka</a:t>
            </a:r>
            <a:r>
              <a:rPr dirty="0"/>
              <a:t> yang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direproduksi</a:t>
            </a:r>
            <a:r>
              <a:rPr dirty="0"/>
              <a:t>. Maka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pakai</a:t>
            </a:r>
            <a:r>
              <a:rPr dirty="0"/>
              <a:t> </a:t>
            </a:r>
            <a:r>
              <a:rPr dirty="0" err="1"/>
              <a:t>rumus</a:t>
            </a:r>
            <a:r>
              <a:rPr dirty="0"/>
              <a:t> </a:t>
            </a:r>
            <a:r>
              <a:rPr dirty="0" err="1"/>
              <a:t>matematika</a:t>
            </a:r>
            <a:r>
              <a:rPr dirty="0"/>
              <a:t> </a:t>
            </a:r>
            <a:r>
              <a:rPr dirty="0" err="1"/>
              <a:t>baku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GHG Protocol.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11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298448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121408"/>
            <a:ext cx="21031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4871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onsolas"/>
              </a:defRPr>
            </a:pPr>
            <a:r>
              <a:rPr dirty="0" err="1"/>
              <a:t>asher</a:t>
            </a:r>
            <a:r>
              <a:rPr dirty="0"/>
              <a:t>-smart-</a:t>
            </a:r>
            <a:r>
              <a:rPr dirty="0" err="1"/>
              <a:t>dashboard.vercel.app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286000" y="3310128"/>
            <a:ext cx="7589520" cy="6400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0" y="34198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Dashboard Eksekutif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447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Angka Carbon Credit real-time + tombol Export Laporan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087368"/>
            <a:ext cx="7589520" cy="6400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41970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Dashboard HSE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224528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Warna status </a:t>
            </a:r>
            <a:r>
              <a:rPr dirty="0" err="1"/>
              <a:t>emisi</a:t>
            </a:r>
            <a:r>
              <a:rPr dirty="0"/>
              <a:t>, gauge </a:t>
            </a:r>
            <a:r>
              <a:rPr dirty="0" err="1"/>
              <a:t>suhu</a:t>
            </a:r>
            <a:r>
              <a:rPr dirty="0"/>
              <a:t>, log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history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2286000" y="4864608"/>
            <a:ext cx="7589520" cy="6400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4974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Dashboard Operator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0017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AI Camera klasifikasi sampah + jadwal servis prediktif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Segoe UI Light"/>
              </a:defRPr>
            </a:pPr>
            <a:r>
              <a:rPr dirty="0"/>
              <a:t>"Ini </a:t>
            </a:r>
            <a:r>
              <a:rPr dirty="0" err="1"/>
              <a:t>baru</a:t>
            </a:r>
            <a:r>
              <a:rPr dirty="0"/>
              <a:t> </a:t>
            </a:r>
            <a:r>
              <a:rPr dirty="0" err="1"/>
              <a:t>prototipe</a:t>
            </a:r>
            <a:r>
              <a:rPr dirty="0"/>
              <a:t>. </a:t>
            </a:r>
            <a:r>
              <a:rPr dirty="0" err="1"/>
              <a:t>Bayangkan</a:t>
            </a:r>
            <a:r>
              <a:rPr dirty="0"/>
              <a:t> </a:t>
            </a:r>
            <a:r>
              <a:rPr dirty="0" err="1"/>
              <a:t>jika</a:t>
            </a:r>
            <a:r>
              <a:rPr dirty="0"/>
              <a:t> data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berasal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mesin</a:t>
            </a:r>
            <a:r>
              <a:rPr dirty="0"/>
              <a:t> ASHER </a:t>
            </a:r>
            <a:r>
              <a:rPr dirty="0" err="1"/>
              <a:t>sungguhan</a:t>
            </a:r>
            <a:r>
              <a:rPr dirty="0"/>
              <a:t>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12 /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Model Bisnis untuk Pamarai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337560" cy="43891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337560" cy="54864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Bundling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918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Sistem Smart IT dijual sebagai fitur tambahan saat klien membeli mesin ASHER baru.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663440"/>
            <a:ext cx="3063240" cy="1280160"/>
          </a:xfrm>
          <a:prstGeom prst="roundRect">
            <a:avLst>
              <a:gd name="adj" fmla="val 2000"/>
            </a:avLst>
          </a:prstGeom>
          <a:solidFill>
            <a:srgbClr val="1621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KEUNTUNGAN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Menaikkan harga jual mesin 15-25%. Differensiator kuat dari kompetitor.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920240"/>
            <a:ext cx="3337560" cy="43891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34840" y="1920240"/>
            <a:ext cx="3337560" cy="54864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88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SaaS Subscription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291840"/>
            <a:ext cx="2834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Klien </a:t>
            </a:r>
            <a:r>
              <a:rPr dirty="0" err="1"/>
              <a:t>membayar</a:t>
            </a:r>
            <a:r>
              <a:rPr dirty="0"/>
              <a:t> </a:t>
            </a:r>
            <a:r>
              <a:rPr dirty="0" err="1"/>
              <a:t>langganan</a:t>
            </a:r>
            <a:r>
              <a:rPr dirty="0"/>
              <a:t> </a:t>
            </a:r>
            <a:r>
              <a:rPr dirty="0" err="1"/>
              <a:t>bulanan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akses</a:t>
            </a:r>
            <a:r>
              <a:rPr dirty="0"/>
              <a:t> dashboard + AI.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663440"/>
            <a:ext cx="3063240" cy="1280160"/>
          </a:xfrm>
          <a:prstGeom prst="roundRect">
            <a:avLst>
              <a:gd name="adj" fmla="val 2000"/>
            </a:avLst>
          </a:prstGeom>
          <a:solidFill>
            <a:srgbClr val="1621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4754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KEUNTUNGAN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51206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Recurring revenue. Pamarai punya hubungan jangka panjang dengan setiap klien.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920240"/>
            <a:ext cx="3337560" cy="43891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20" y="1920240"/>
            <a:ext cx="3337560" cy="54864"/>
          </a:xfrm>
          <a:prstGeom prst="roundRect">
            <a:avLst>
              <a:gd name="adj" fmla="val 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5CF6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788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Revenue Sharing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2918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Pamarai mendapat persentase dari Carbon Credit yang berhasil dijual oleh klien.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4663440"/>
            <a:ext cx="3063240" cy="1280160"/>
          </a:xfrm>
          <a:prstGeom prst="roundRect">
            <a:avLst>
              <a:gd name="adj" fmla="val 2000"/>
            </a:avLst>
          </a:prstGeom>
          <a:solidFill>
            <a:srgbClr val="1621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4754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KEUNTUNGAN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1206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Potensi pendapatan pasif dari setiap unit mesin yang beroperasi di lapangan.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13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Roadmap Implementasi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337560" cy="29260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337560" cy="54864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Pilot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089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Pasang sensor IoT di 1 unit mesin ASHER. Hubungkan ke dashboard. Validasi data dan kalibrasi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337560" cy="29260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337560" cy="54864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560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MVP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089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Dashboard production-ready untuk 5 klien pertama. Integrasi Carbon Calculator dan PDF Reporting.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337560" cy="29260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20" y="1920240"/>
            <a:ext cx="3337560" cy="54864"/>
          </a:xfrm>
          <a:prstGeom prst="roundRect">
            <a:avLst>
              <a:gd name="adj" fmla="val 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2560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1089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Rollout massal ke seluruh klien baru Pamarai. Iterasi fitur berdasarkan feedback lapangan.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303520"/>
            <a:ext cx="9418320" cy="1097280"/>
          </a:xfrm>
          <a:prstGeom prst="roundRect">
            <a:avLst>
              <a:gd name="adj" fmla="val 2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54406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 Light"/>
              </a:defRPr>
            </a:pPr>
            <a:r>
              <a:t>"Kompetitor menjual mesin.</a:t>
            </a:r>
            <a:br/>
            <a:r>
              <a:t> Pamarai bisa menjual solusi."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1459</Words>
  <Application>Microsoft Office PowerPoint</Application>
  <PresentationFormat>Widescreen</PresentationFormat>
  <Paragraphs>214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MOCHAMMAD IKHSAN</cp:lastModifiedBy>
  <cp:revision>2</cp:revision>
  <dcterms:created xsi:type="dcterms:W3CDTF">2013-01-27T09:14:16Z</dcterms:created>
  <dcterms:modified xsi:type="dcterms:W3CDTF">2026-09-25T15:08:53Z</dcterms:modified>
  <cp:category/>
</cp:coreProperties>
</file>